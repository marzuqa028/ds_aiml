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72" r:id="rId6"/>
    <p:sldId id="273" r:id="rId7"/>
    <p:sldId id="263" r:id="rId8"/>
    <p:sldId id="269" r:id="rId9"/>
    <p:sldId id="270" r:id="rId10"/>
    <p:sldId id="275" r:id="rId11"/>
    <p:sldId id="274" r:id="rId12"/>
    <p:sldId id="266" r:id="rId13"/>
    <p:sldId id="267" r:id="rId14"/>
  </p:sldIdLst>
  <p:sldSz cx="9144000" cy="5143500" type="screen16x9"/>
  <p:notesSz cx="6858000" cy="9144000"/>
  <p:embeddedFontLst>
    <p:embeddedFont>
      <p:font typeface="Helvetica Neue" panose="020B0604020202020204" charset="0"/>
      <p:regular r:id="rId16"/>
      <p:bold r:id="rId17"/>
      <p:italic r:id="rId18"/>
      <p:boldItalic r:id="rId19"/>
    </p:embeddedFont>
    <p:embeddedFont>
      <p:font typeface="Helvetica Neue Light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gYWJBtbwI2f3eR+P45eHJopK7O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243F2E9-EE5A-4B70-8657-BDC805B4E44C}">
  <a:tblStyle styleId="{F243F2E9-EE5A-4B70-8657-BDC805B4E44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841a0f086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g3a841a0f086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b61f4e995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g3bb61f4e995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928b83b57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3a928b83b57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b61f4e995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bb61f4e995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b61f4e995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g3bb61f4e995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 1 1">
  <p:cSld name="CUSTOM_2_1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" name="Google Shape;14;p28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0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31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31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3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33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3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3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35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36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7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37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37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7053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8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33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6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SUMMER INTERNSHIP |  </a:t>
            </a: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59" r:id="rId10"/>
    <p:sldLayoutId id="2147483661" r:id="rId11"/>
    <p:sldLayoutId id="2147483662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/>
          <p:nvPr/>
        </p:nvSpPr>
        <p:spPr>
          <a:xfrm>
            <a:off x="641235" y="1771561"/>
            <a:ext cx="7915549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294C6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Student performance predictor</a:t>
            </a:r>
            <a:endParaRPr sz="4000" b="1" i="0" u="none" strike="noStrike" cap="none" dirty="0">
              <a:solidFill>
                <a:srgbClr val="294C6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" name="Google Shape;57;p1"/>
          <p:cNvSpPr txBox="1">
            <a:spLocks noGrp="1"/>
          </p:cNvSpPr>
          <p:nvPr>
            <p:ph type="subTitle" idx="4294967295"/>
          </p:nvPr>
        </p:nvSpPr>
        <p:spPr>
          <a:xfrm>
            <a:off x="760100" y="2636150"/>
            <a:ext cx="3811800" cy="21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GB" sz="1400" dirty="0">
                <a:solidFill>
                  <a:srgbClr val="294C6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Science and AI ML</a:t>
            </a:r>
            <a:endParaRPr sz="1400" b="0" i="0" u="none" strike="noStrike" cap="none" dirty="0">
              <a:solidFill>
                <a:srgbClr val="294C6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GB" sz="1400" dirty="0">
                <a:solidFill>
                  <a:srgbClr val="294C6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Team Members: </a:t>
            </a:r>
            <a:endParaRPr sz="1400" dirty="0">
              <a:solidFill>
                <a:srgbClr val="294C6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GB" sz="1400" dirty="0">
                <a:solidFill>
                  <a:srgbClr val="294C6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1.Avinash</a:t>
            </a:r>
            <a:endParaRPr sz="1400" dirty="0">
              <a:solidFill>
                <a:srgbClr val="294C6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>
              <a:buNone/>
            </a:pPr>
            <a:r>
              <a:rPr lang="en-GB" sz="1400" dirty="0">
                <a:solidFill>
                  <a:srgbClr val="294C6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2.Shamanth</a:t>
            </a:r>
          </a:p>
          <a:p>
            <a:pPr marL="0" lvl="0" indent="0">
              <a:buNone/>
            </a:pPr>
            <a:r>
              <a:rPr lang="en-GB" sz="1400" dirty="0">
                <a:solidFill>
                  <a:srgbClr val="294C6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3.Sathwik</a:t>
            </a:r>
            <a:endParaRPr sz="1400" dirty="0">
              <a:solidFill>
                <a:srgbClr val="294C6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GB" sz="1400" dirty="0">
                <a:solidFill>
                  <a:srgbClr val="294C6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4.Chaithanya</a:t>
            </a:r>
            <a:endParaRPr sz="1400" dirty="0">
              <a:solidFill>
                <a:srgbClr val="294C6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>
              <a:buNone/>
            </a:pPr>
            <a:r>
              <a:rPr lang="en-GB" sz="1400" dirty="0">
                <a:solidFill>
                  <a:srgbClr val="294C6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5.Sumaira Marzuqa Bashir</a:t>
            </a:r>
            <a:endParaRPr sz="1400" dirty="0">
              <a:solidFill>
                <a:srgbClr val="294C6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GB" sz="1400" dirty="0">
                <a:solidFill>
                  <a:srgbClr val="294C6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6.Divyashree</a:t>
            </a:r>
            <a:endParaRPr sz="1400" dirty="0">
              <a:solidFill>
                <a:srgbClr val="294C6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58" name="Google Shape;58;p1"/>
          <p:cNvGrpSpPr/>
          <p:nvPr/>
        </p:nvGrpSpPr>
        <p:grpSpPr>
          <a:xfrm>
            <a:off x="556474" y="261338"/>
            <a:ext cx="8207554" cy="1097424"/>
            <a:chOff x="556474" y="261338"/>
            <a:chExt cx="8207554" cy="1097424"/>
          </a:xfrm>
        </p:grpSpPr>
        <p:pic>
          <p:nvPicPr>
            <p:cNvPr id="59" name="Google Shape;59;p1"/>
            <p:cNvPicPr preferRelativeResize="0"/>
            <p:nvPr/>
          </p:nvPicPr>
          <p:blipFill rotWithShape="1">
            <a:blip r:embed="rId3">
              <a:alphaModFix/>
            </a:blip>
            <a:srcRect t="23174" b="23167"/>
            <a:stretch/>
          </p:blipFill>
          <p:spPr>
            <a:xfrm>
              <a:off x="556474" y="522675"/>
              <a:ext cx="3134699" cy="574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60;p1" title="ERA LOGO PNG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95230" y="261338"/>
              <a:ext cx="868798" cy="10974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" name="Google Shape;61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62" name="Google Shape;62;p1"/>
          <p:cNvSpPr txBox="1">
            <a:spLocks noGrp="1"/>
          </p:cNvSpPr>
          <p:nvPr>
            <p:ph type="subTitle" idx="4294967295"/>
          </p:nvPr>
        </p:nvSpPr>
        <p:spPr>
          <a:xfrm>
            <a:off x="4098175" y="2636150"/>
            <a:ext cx="20730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GB" sz="1400" dirty="0">
                <a:solidFill>
                  <a:srgbClr val="294C6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Guide: Kavya Rao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sz="1400" dirty="0">
              <a:solidFill>
                <a:srgbClr val="294C6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2"/>
          <p:cNvPicPr preferRelativeResize="0"/>
          <p:nvPr/>
        </p:nvPicPr>
        <p:blipFill rotWithShape="1">
          <a:blip r:embed="rId3">
            <a:alphaModFix/>
          </a:blip>
          <a:srcRect l="7620" t="23175" r="65300" b="23164"/>
          <a:stretch/>
        </p:blipFill>
        <p:spPr>
          <a:xfrm>
            <a:off x="8200175" y="497475"/>
            <a:ext cx="586099" cy="3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2"/>
          <p:cNvSpPr txBox="1"/>
          <p:nvPr/>
        </p:nvSpPr>
        <p:spPr>
          <a:xfrm>
            <a:off x="787968" y="1492050"/>
            <a:ext cx="7360800" cy="20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 Light"/>
              <a:buChar char="●"/>
            </a:pPr>
            <a:r>
              <a:rPr lang="en-GB" sz="1300" dirty="0">
                <a:solidFill>
                  <a:schemeClr val="dk1"/>
                </a:solidFill>
              </a:rPr>
              <a:t>Introduction</a:t>
            </a: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 dirty="0">
                <a:solidFill>
                  <a:schemeClr val="dk1"/>
                </a:solidFill>
              </a:rPr>
              <a:t>SMART Objectives</a:t>
            </a: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 dirty="0">
                <a:solidFill>
                  <a:schemeClr val="dk1"/>
                </a:solidFill>
              </a:rPr>
              <a:t>5W1H Analysis and SCAMPER Ideation</a:t>
            </a:r>
            <a:endParaRPr sz="1300" dirty="0">
              <a:solidFill>
                <a:schemeClr val="dk1"/>
              </a:solidFill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 dirty="0">
                <a:solidFill>
                  <a:schemeClr val="dk1"/>
                </a:solidFill>
              </a:rPr>
              <a:t>Literature Insights (Short)</a:t>
            </a: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 dirty="0">
                <a:solidFill>
                  <a:schemeClr val="dk1"/>
                </a:solidFill>
              </a:rPr>
              <a:t>Proposed Solution</a:t>
            </a: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 dirty="0">
                <a:solidFill>
                  <a:schemeClr val="dk1"/>
                </a:solidFill>
              </a:rPr>
              <a:t>System Overview (Basic Diagram)</a:t>
            </a:r>
            <a:endParaRPr sz="1300" dirty="0">
              <a:solidFill>
                <a:schemeClr val="dk1"/>
              </a:solidFill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 dirty="0">
                <a:solidFill>
                  <a:schemeClr val="dk1"/>
                </a:solidFill>
              </a:rPr>
              <a:t>Gantt Chart</a:t>
            </a:r>
            <a:endParaRPr sz="1300" dirty="0">
              <a:solidFill>
                <a:schemeClr val="dk1"/>
              </a:solidFill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 dirty="0">
                <a:solidFill>
                  <a:schemeClr val="dk1"/>
                </a:solidFill>
              </a:rPr>
              <a:t>Expected Outcome</a:t>
            </a:r>
            <a:endParaRPr sz="13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686983" y="695900"/>
            <a:ext cx="5069700" cy="4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GB" sz="3100" b="1" dirty="0">
                <a:solidFill>
                  <a:srgbClr val="0913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Agenda:</a:t>
            </a:r>
            <a:endParaRPr sz="3100" b="1" i="0" u="none" strike="noStrike" cap="none" dirty="0">
              <a:solidFill>
                <a:srgbClr val="09134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1045075" y="2266500"/>
            <a:ext cx="4987500" cy="2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FF4A0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" name="Google Shape;71;p2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g3a841a0f086_0_91"/>
          <p:cNvPicPr preferRelativeResize="0"/>
          <p:nvPr/>
        </p:nvPicPr>
        <p:blipFill rotWithShape="1">
          <a:blip r:embed="rId3">
            <a:alphaModFix/>
          </a:blip>
          <a:srcRect l="7620" t="23175" r="65300" b="23164"/>
          <a:stretch/>
        </p:blipFill>
        <p:spPr>
          <a:xfrm>
            <a:off x="8200175" y="497475"/>
            <a:ext cx="586099" cy="3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g3a841a0f086_0_91"/>
          <p:cNvSpPr txBox="1"/>
          <p:nvPr/>
        </p:nvSpPr>
        <p:spPr>
          <a:xfrm>
            <a:off x="529478" y="1499789"/>
            <a:ext cx="7360800" cy="8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15000"/>
              </a:lnSpc>
              <a:buSzPts val="1500"/>
            </a:pPr>
            <a:r>
              <a:rPr lang="en-US" sz="1600" dirty="0">
                <a:latin typeface="Helvetica Neue Light" panose="020B0604020202020204" charset="0"/>
              </a:rPr>
              <a:t>Many students fall behind academically before teachers can identify the problem. </a:t>
            </a:r>
            <a:r>
              <a:rPr lang="en-US" sz="1600" dirty="0"/>
              <a:t>Traditional monitoring methods rely on manual observation and delayed results. Lack of predictive tools prevents early intervention. As a result, students do not receive timely support, leading to poor academic performance. Institutions need an automated system to predict student performance and risk level.</a:t>
            </a: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</a:pPr>
            <a:endParaRPr sz="1500" b="0" i="0" u="none" strike="noStrike" cap="none" dirty="0">
              <a:solidFill>
                <a:srgbClr val="59595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 dirty="0">
              <a:solidFill>
                <a:srgbClr val="59595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rgbClr val="59595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8" name="Google Shape;78;g3a841a0f086_0_91"/>
          <p:cNvSpPr txBox="1"/>
          <p:nvPr/>
        </p:nvSpPr>
        <p:spPr>
          <a:xfrm>
            <a:off x="668675" y="894325"/>
            <a:ext cx="7531500" cy="9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GB" sz="3100" b="1">
                <a:solidFill>
                  <a:srgbClr val="0913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Statement</a:t>
            </a:r>
            <a:endParaRPr sz="3100" b="1" i="0" u="none" strike="noStrike" cap="none">
              <a:solidFill>
                <a:srgbClr val="09134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g3a841a0f086_0_91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bb61f4e995_0_24"/>
          <p:cNvPicPr preferRelativeResize="0"/>
          <p:nvPr/>
        </p:nvPicPr>
        <p:blipFill rotWithShape="1">
          <a:blip r:embed="rId3">
            <a:alphaModFix/>
          </a:blip>
          <a:srcRect l="7620" t="23175" r="65300" b="23164"/>
          <a:stretch/>
        </p:blipFill>
        <p:spPr>
          <a:xfrm>
            <a:off x="8200175" y="497475"/>
            <a:ext cx="586099" cy="3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bb61f4e995_0_24"/>
          <p:cNvSpPr txBox="1"/>
          <p:nvPr/>
        </p:nvSpPr>
        <p:spPr>
          <a:xfrm>
            <a:off x="668675" y="1133127"/>
            <a:ext cx="7769081" cy="334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Student performance is crucial, but delayed detection and traditional monitoring lead to late interventions and reduced improvement chances.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Students, teachers, and educational institutions facing challenges due to lack of timely support and reliance on manual evaluation methods, leading to reduced overall performance.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issue occurs across all learning environments, including schools, colleges, universities, training institutions, and online learning platforms.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Advancements in machine learning and data analytics enable early prediction of student performance using academic and behavioral data, helping identify at-risk students and provide timely intervention and support.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sz="1500" b="1" dirty="0">
              <a:solidFill>
                <a:srgbClr val="5959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rgbClr val="5959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" name="Google Shape;86;g3bb61f4e995_0_24"/>
          <p:cNvSpPr txBox="1"/>
          <p:nvPr/>
        </p:nvSpPr>
        <p:spPr>
          <a:xfrm>
            <a:off x="569757" y="419425"/>
            <a:ext cx="7531500" cy="9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GB" sz="3100" b="1">
                <a:solidFill>
                  <a:srgbClr val="0913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Introduction</a:t>
            </a:r>
            <a:endParaRPr sz="3100" b="1" i="0" u="none" strike="noStrike" cap="none">
              <a:solidFill>
                <a:srgbClr val="09134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" name="Google Shape;87;g3bb61f4e995_0_24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CAD415-1511-4F68-CD23-BA20CF648D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73FAA8-3FD8-D576-279E-FBDD03F96ED0}"/>
              </a:ext>
            </a:extLst>
          </p:cNvPr>
          <p:cNvSpPr txBox="1"/>
          <p:nvPr/>
        </p:nvSpPr>
        <p:spPr>
          <a:xfrm>
            <a:off x="199379" y="157371"/>
            <a:ext cx="86386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09134D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Objectives :-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1FA1CC-97DB-F500-6A10-1C05113ABE34}"/>
              </a:ext>
            </a:extLst>
          </p:cNvPr>
          <p:cNvSpPr txBox="1"/>
          <p:nvPr/>
        </p:nvSpPr>
        <p:spPr>
          <a:xfrm>
            <a:off x="305946" y="739074"/>
            <a:ext cx="8532108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goal is to predict whether a student is performing well or is at risk based on their data (marks, attendance, etc.)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system measures success by prediction accuracy, identifying at-risk students, and improving performance monitoring.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system is achievable using technologies like Flask, Python libraries, and structured student datasets.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project is relevant in modern education as it enables early detection of low-performing students and helps improve academic performance.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project is completed step-by-step from data preparation to model training, development, and final testing.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lnSpc>
                <a:spcPct val="200000"/>
              </a:lnSpc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Google Shape;84;g3bb61f4e995_0_24">
            <a:extLst>
              <a:ext uri="{FF2B5EF4-FFF2-40B4-BE49-F238E27FC236}">
                <a16:creationId xmlns:a16="http://schemas.microsoft.com/office/drawing/2014/main" id="{CA37AEA0-3E9A-ECDC-F72C-550A78C01CD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7620" t="23175" r="65300" b="23164"/>
          <a:stretch/>
        </p:blipFill>
        <p:spPr>
          <a:xfrm>
            <a:off x="8200175" y="497475"/>
            <a:ext cx="586099" cy="3968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2308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F26E92-99A8-0D9B-C283-C4C44374E2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6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5DAA07-85CE-D0D7-63CF-75DDA2487D0B}"/>
              </a:ext>
            </a:extLst>
          </p:cNvPr>
          <p:cNvSpPr txBox="1"/>
          <p:nvPr/>
        </p:nvSpPr>
        <p:spPr>
          <a:xfrm>
            <a:off x="264695" y="86567"/>
            <a:ext cx="4572000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tabLst/>
              <a:defRPr/>
            </a:pPr>
            <a:r>
              <a:rPr kumimoji="0" lang="en-GB" sz="3100" b="1" i="0" u="none" strike="noStrike" kern="0" cap="none" spc="0" normalizeH="0" baseline="0" noProof="0" dirty="0">
                <a:ln>
                  <a:noFill/>
                </a:ln>
                <a:solidFill>
                  <a:srgbClr val="09134D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5W1H Analysis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ED0F4B-5356-C5B4-8033-ED938E0FAA51}"/>
              </a:ext>
            </a:extLst>
          </p:cNvPr>
          <p:cNvGraphicFramePr>
            <a:graphicFrameLocks noGrp="1"/>
          </p:cNvGraphicFramePr>
          <p:nvPr/>
        </p:nvGraphicFramePr>
        <p:xfrm>
          <a:off x="193744" y="842258"/>
          <a:ext cx="1738184" cy="4149131"/>
        </p:xfrm>
        <a:graphic>
          <a:graphicData uri="http://schemas.openxmlformats.org/drawingml/2006/table">
            <a:tbl>
              <a:tblPr firstRow="1" bandRow="1">
                <a:tableStyleId>{F243F2E9-EE5A-4B70-8657-BDC805B4E44C}</a:tableStyleId>
              </a:tblPr>
              <a:tblGrid>
                <a:gridCol w="1738184">
                  <a:extLst>
                    <a:ext uri="{9D8B030D-6E8A-4147-A177-3AD203B41FA5}">
                      <a16:colId xmlns:a16="http://schemas.microsoft.com/office/drawing/2014/main" val="107314432"/>
                    </a:ext>
                  </a:extLst>
                </a:gridCol>
              </a:tblGrid>
              <a:tr h="592733">
                <a:tc>
                  <a:txBody>
                    <a:bodyPr/>
                    <a:lstStyle/>
                    <a:p>
                      <a:r>
                        <a:rPr lang="en-US" dirty="0"/>
                        <a:t>    </a:t>
                      </a:r>
                      <a:r>
                        <a:rPr lang="en-US" sz="1800" b="1" dirty="0">
                          <a:solidFill>
                            <a:srgbClr val="002060"/>
                          </a:solidFill>
                        </a:rPr>
                        <a:t>Category</a:t>
                      </a:r>
                      <a:r>
                        <a:rPr lang="en-US" dirty="0"/>
                        <a:t>                                                             </a:t>
                      </a:r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7187"/>
                  </a:ext>
                </a:extLst>
              </a:tr>
              <a:tr h="592733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IN" dirty="0"/>
                        <a:t>        WHO                    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0495582"/>
                  </a:ext>
                </a:extLst>
              </a:tr>
              <a:tr h="592733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IN" dirty="0"/>
                        <a:t>        WHAT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3878946"/>
                  </a:ext>
                </a:extLst>
              </a:tr>
              <a:tr h="592733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IN" dirty="0"/>
                        <a:t>        WHY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200497"/>
                  </a:ext>
                </a:extLst>
              </a:tr>
              <a:tr h="592733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IN" dirty="0"/>
                        <a:t>       WHERE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893971"/>
                  </a:ext>
                </a:extLst>
              </a:tr>
              <a:tr h="592733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IN" dirty="0"/>
                        <a:t>       WHEN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7539176"/>
                  </a:ext>
                </a:extLst>
              </a:tr>
              <a:tr h="592733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IN" dirty="0"/>
                        <a:t>        HOW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420287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7072595-6E40-478A-CA20-3FFECF14E0FD}"/>
              </a:ext>
            </a:extLst>
          </p:cNvPr>
          <p:cNvGraphicFramePr>
            <a:graphicFrameLocks noGrp="1"/>
          </p:cNvGraphicFramePr>
          <p:nvPr/>
        </p:nvGraphicFramePr>
        <p:xfrm>
          <a:off x="1925052" y="842258"/>
          <a:ext cx="6923315" cy="4149131"/>
        </p:xfrm>
        <a:graphic>
          <a:graphicData uri="http://schemas.openxmlformats.org/drawingml/2006/table">
            <a:tbl>
              <a:tblPr firstRow="1" bandRow="1">
                <a:tableStyleId>{F243F2E9-EE5A-4B70-8657-BDC805B4E44C}</a:tableStyleId>
              </a:tblPr>
              <a:tblGrid>
                <a:gridCol w="6923315">
                  <a:extLst>
                    <a:ext uri="{9D8B030D-6E8A-4147-A177-3AD203B41FA5}">
                      <a16:colId xmlns:a16="http://schemas.microsoft.com/office/drawing/2014/main" val="2946266517"/>
                    </a:ext>
                  </a:extLst>
                </a:gridCol>
              </a:tblGrid>
              <a:tr h="59273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rgbClr val="002060"/>
                          </a:solidFill>
                        </a:rPr>
                        <a:t>                                                 </a:t>
                      </a:r>
                      <a:r>
                        <a:rPr lang="en-US" sz="1800" b="1" dirty="0">
                          <a:solidFill>
                            <a:srgbClr val="002060"/>
                          </a:solidFill>
                        </a:rPr>
                        <a:t>Explanation</a:t>
                      </a:r>
                      <a:r>
                        <a:rPr lang="en-IN" sz="1800" b="1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IN" b="1" dirty="0">
                          <a:solidFill>
                            <a:srgbClr val="002060"/>
                          </a:solidFill>
                        </a:rPr>
                        <a:t>     </a:t>
                      </a:r>
                      <a:endParaRPr lang="en-US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377469"/>
                  </a:ext>
                </a:extLst>
              </a:tr>
              <a:tr h="592733">
                <a:tc>
                  <a:txBody>
                    <a:bodyPr/>
                    <a:lstStyle/>
                    <a:p>
                      <a:r>
                        <a:rPr lang="en-US" dirty="0"/>
                        <a:t>Teachers, Admin, and Students use the system. Teachers monitor performance,                                      admin manages data, and Students can   view   their progress.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390387"/>
                  </a:ext>
                </a:extLst>
              </a:tr>
              <a:tr h="592733">
                <a:tc>
                  <a:txBody>
                    <a:bodyPr/>
                    <a:lstStyle/>
                    <a:p>
                      <a:r>
                        <a:rPr lang="en-US" dirty="0"/>
                        <a:t>A web-based application that predicts student performance using machine learning based on attendance, study hours, previous marks, and assignments.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991201"/>
                  </a:ext>
                </a:extLst>
              </a:tr>
              <a:tr h="592733">
                <a:tc>
                  <a:txBody>
                    <a:bodyPr/>
                    <a:lstStyle/>
                    <a:p>
                      <a:r>
                        <a:rPr lang="en-US" dirty="0"/>
                        <a:t>To identify at-risk students early, improve academic performance, and helps teachers to take actions early.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43566"/>
                  </a:ext>
                </a:extLst>
              </a:tr>
              <a:tr h="592733">
                <a:tc>
                  <a:txBody>
                    <a:bodyPr/>
                    <a:lstStyle/>
                    <a:p>
                      <a:r>
                        <a:rPr lang="en-US" dirty="0"/>
                        <a:t>Used in educational institutions such as schools, colleges, or universities through a web application.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642184"/>
                  </a:ext>
                </a:extLst>
              </a:tr>
              <a:tr h="592733">
                <a:tc>
                  <a:txBody>
                    <a:bodyPr/>
                    <a:lstStyle/>
                    <a:p>
                      <a:r>
                        <a:rPr lang="en-US" dirty="0"/>
                        <a:t>During the academic period, especially before exams to analyze student performance.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1606523"/>
                  </a:ext>
                </a:extLst>
              </a:tr>
              <a:tr h="592733">
                <a:tc>
                  <a:txBody>
                    <a:bodyPr/>
                    <a:lstStyle/>
                    <a:p>
                      <a:r>
                        <a:rPr lang="en-US" dirty="0"/>
                        <a:t>The system uses a Random Forest machine learning model, Flask web framework, and student dataset to analyze inputs and generate predictions.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1482080"/>
                  </a:ext>
                </a:extLst>
              </a:tr>
            </a:tbl>
          </a:graphicData>
        </a:graphic>
      </p:graphicFrame>
      <p:pic>
        <p:nvPicPr>
          <p:cNvPr id="3" name="Google Shape;84;g3bb61f4e995_0_24">
            <a:extLst>
              <a:ext uri="{FF2B5EF4-FFF2-40B4-BE49-F238E27FC236}">
                <a16:creationId xmlns:a16="http://schemas.microsoft.com/office/drawing/2014/main" id="{C5AF0F32-CF9F-5F46-3D14-AC788AC9871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7620" t="23175" r="65300" b="23164"/>
          <a:stretch/>
        </p:blipFill>
        <p:spPr>
          <a:xfrm>
            <a:off x="8029189" y="259104"/>
            <a:ext cx="586099" cy="3968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9376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g3a928b83b57_0_92"/>
          <p:cNvPicPr preferRelativeResize="0"/>
          <p:nvPr/>
        </p:nvPicPr>
        <p:blipFill rotWithShape="1">
          <a:blip r:embed="rId3">
            <a:alphaModFix/>
          </a:blip>
          <a:srcRect l="7620" t="23175" r="65300" b="23164"/>
          <a:stretch/>
        </p:blipFill>
        <p:spPr>
          <a:xfrm>
            <a:off x="8200175" y="497475"/>
            <a:ext cx="586099" cy="3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a928b83b57_0_92"/>
          <p:cNvSpPr txBox="1"/>
          <p:nvPr/>
        </p:nvSpPr>
        <p:spPr>
          <a:xfrm>
            <a:off x="574081" y="818150"/>
            <a:ext cx="9030836" cy="22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Predicting Student Performance Using Random Forest Algorithm</a:t>
            </a:r>
            <a:endParaRPr lang="en-US" dirty="0"/>
          </a:p>
          <a:p>
            <a:r>
              <a:rPr lang="en-US" dirty="0"/>
              <a:t>Uses Random Forest for accurate prediction of student scores. </a:t>
            </a:r>
          </a:p>
          <a:p>
            <a:r>
              <a:rPr lang="en-US" b="1" dirty="0"/>
              <a:t>Gap:</a:t>
            </a:r>
            <a:r>
              <a:rPr lang="en-US" dirty="0"/>
              <a:t> Works on small dataset</a:t>
            </a:r>
          </a:p>
          <a:p>
            <a:pPr lvl="0">
              <a:spcBef>
                <a:spcPts val="1200"/>
              </a:spcBef>
              <a:buSzPts val="1500"/>
            </a:pPr>
            <a:endParaRPr lang="en-US" dirty="0">
              <a:solidFill>
                <a:srgbClr val="595959"/>
              </a:solidFill>
              <a:latin typeface="Helvetica Neue Light" panose="020B0604020202020204" charset="0"/>
              <a:ea typeface="Helvetica Neue Light"/>
              <a:cs typeface="Helvetica Neue Light"/>
              <a:sym typeface="Helvetica Neue Light"/>
            </a:endParaRPr>
          </a:p>
          <a:p>
            <a:r>
              <a:rPr lang="en-IN" b="1" dirty="0"/>
              <a:t>Student Performance Prediction Using Supervised Machine Learning</a:t>
            </a:r>
            <a:endParaRPr lang="en-IN" dirty="0"/>
          </a:p>
          <a:p>
            <a:r>
              <a:rPr lang="en-IN" dirty="0"/>
              <a:t>Compares algorithms like Logistic Regression, SVM, Decision Trees. </a:t>
            </a:r>
          </a:p>
          <a:p>
            <a:r>
              <a:rPr lang="en-IN" b="1" dirty="0"/>
              <a:t>Gap:</a:t>
            </a:r>
            <a:r>
              <a:rPr lang="en-IN" dirty="0"/>
              <a:t> No single best model; results vary across datasets.</a:t>
            </a:r>
          </a:p>
          <a:p>
            <a:endParaRPr lang="en-IN" dirty="0"/>
          </a:p>
          <a:p>
            <a:r>
              <a:rPr lang="en-US" b="1" dirty="0"/>
              <a:t>Student Performance Prediction Based on Random Forest</a:t>
            </a:r>
            <a:endParaRPr lang="en-US" dirty="0"/>
          </a:p>
          <a:p>
            <a:r>
              <a:rPr lang="en-US" dirty="0"/>
              <a:t>Focuses on academic features like marks and attendance. </a:t>
            </a:r>
          </a:p>
          <a:p>
            <a:r>
              <a:rPr lang="en-US" b="1" dirty="0"/>
              <a:t>Gap:</a:t>
            </a:r>
            <a:r>
              <a:rPr lang="en-US" dirty="0"/>
              <a:t> Ignores behavioral and psychological factors. </a:t>
            </a:r>
          </a:p>
          <a:p>
            <a:endParaRPr lang="en-US" dirty="0"/>
          </a:p>
          <a:p>
            <a:r>
              <a:rPr lang="en-US" b="1" dirty="0"/>
              <a:t>Classification and Prediction Using Various ML Algorithms</a:t>
            </a:r>
            <a:endParaRPr lang="en-US" dirty="0"/>
          </a:p>
          <a:p>
            <a:r>
              <a:rPr lang="en-US" dirty="0"/>
              <a:t>Evaluates multiple ML models for classification accuracy. </a:t>
            </a:r>
          </a:p>
          <a:p>
            <a:r>
              <a:rPr lang="en-US" b="1" dirty="0"/>
              <a:t>Gap:</a:t>
            </a:r>
            <a:r>
              <a:rPr lang="en-US" dirty="0"/>
              <a:t> Models are not integrated into real-world systems.</a:t>
            </a:r>
          </a:p>
          <a:p>
            <a:endParaRPr lang="en-US" dirty="0"/>
          </a:p>
          <a:p>
            <a:endParaRPr lang="en-IN" dirty="0"/>
          </a:p>
          <a:p>
            <a:pPr lvl="0">
              <a:spcBef>
                <a:spcPts val="1200"/>
              </a:spcBef>
              <a:buSzPts val="1500"/>
            </a:pPr>
            <a:endParaRPr dirty="0">
              <a:solidFill>
                <a:srgbClr val="595959"/>
              </a:solidFill>
              <a:latin typeface="Helvetica Neue Light" panose="020B0604020202020204" charset="0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dirty="0">
              <a:solidFill>
                <a:srgbClr val="59595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8" name="Google Shape;118;g3a928b83b57_0_92"/>
          <p:cNvSpPr txBox="1"/>
          <p:nvPr/>
        </p:nvSpPr>
        <p:spPr>
          <a:xfrm>
            <a:off x="730199" y="221000"/>
            <a:ext cx="7160400" cy="9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GB" sz="3100" b="1" dirty="0">
                <a:solidFill>
                  <a:srgbClr val="0913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Literature Insights:</a:t>
            </a:r>
            <a:endParaRPr sz="3100" b="1" i="0" u="none" strike="noStrike" cap="none" dirty="0">
              <a:solidFill>
                <a:srgbClr val="09134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" name="Google Shape;119;g3a928b83b57_0_92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Capabilities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7472" y="1298448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7472" y="1298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68680" y="1298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Prediction: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53619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ExtraTreesRegressor, 85.4% R2, 14 features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1911096"/>
            <a:ext cx="438912" cy="43891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7472" y="19110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68680" y="19110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3-Role System: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14884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Teacher, Student - separate dashboards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2523744"/>
            <a:ext cx="438912" cy="43891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7472" y="25237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68680" y="25237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Predict: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276148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class CSV - predictions for every student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3136392"/>
            <a:ext cx="438912" cy="43891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47472" y="31363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68680" y="3136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Tips: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3374136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suggestions for at-risk students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" y="3749040"/>
            <a:ext cx="438912" cy="43891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47472" y="37490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68680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&amp; Auth: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398678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login with password hashing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7472" y="4361688"/>
            <a:ext cx="438912" cy="43891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47472" y="43616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68680" y="4361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" y="459943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avg, risk %, at-risk student table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77840" y="822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(Top 5)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77840" y="1298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total_score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406640" y="12984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44.4%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577840" y="1581912"/>
            <a:ext cx="2560320" cy="182880"/>
          </a:xfrm>
          <a:prstGeom prst="rect">
            <a:avLst/>
          </a:prstGeom>
          <a:solidFill>
            <a:srgbClr val="E8F5F4"/>
          </a:solidFill>
          <a:ln w="12700">
            <a:solidFill>
              <a:srgbClr val="E8F5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577840" y="1581912"/>
            <a:ext cx="2273564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577840" y="19110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academic_score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406640" y="19110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577840" y="2194560"/>
            <a:ext cx="2560320" cy="182880"/>
          </a:xfrm>
          <a:prstGeom prst="rect">
            <a:avLst/>
          </a:prstGeom>
          <a:solidFill>
            <a:srgbClr val="E8F5F4"/>
          </a:solidFill>
          <a:ln w="12700">
            <a:solidFill>
              <a:srgbClr val="E8F5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5577840" y="2194560"/>
            <a:ext cx="972922" cy="1828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577840" y="25237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internal_avg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406640" y="25237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577840" y="2807208"/>
            <a:ext cx="2560320" cy="182880"/>
          </a:xfrm>
          <a:prstGeom prst="rect">
            <a:avLst/>
          </a:prstGeom>
          <a:solidFill>
            <a:srgbClr val="E8F5F4"/>
          </a:solidFill>
          <a:ln w="12700">
            <a:solidFill>
              <a:srgbClr val="E8F5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5577840" y="2807208"/>
            <a:ext cx="414772" cy="1828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577840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high_study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406640" y="3136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7.7%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577840" y="3419856"/>
            <a:ext cx="2560320" cy="182880"/>
          </a:xfrm>
          <a:prstGeom prst="rect">
            <a:avLst/>
          </a:prstGeom>
          <a:solidFill>
            <a:srgbClr val="E8F5F4"/>
          </a:solidFill>
          <a:ln w="12700">
            <a:solidFill>
              <a:srgbClr val="E8F5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5577840" y="3419856"/>
            <a:ext cx="394289" cy="1828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57784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x attend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406640" y="3749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3.4%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577840" y="4032504"/>
            <a:ext cx="2560320" cy="182880"/>
          </a:xfrm>
          <a:prstGeom prst="rect">
            <a:avLst/>
          </a:prstGeom>
          <a:solidFill>
            <a:srgbClr val="E8F5F4"/>
          </a:solidFill>
          <a:ln w="12700">
            <a:solidFill>
              <a:srgbClr val="E8F5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5577840" y="4032504"/>
            <a:ext cx="174102" cy="1828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3" name="Google Shape;124;g3bb61f4e995_0_85">
            <a:extLst>
              <a:ext uri="{FF2B5EF4-FFF2-40B4-BE49-F238E27FC236}">
                <a16:creationId xmlns:a16="http://schemas.microsoft.com/office/drawing/2014/main" id="{CF5CA0C6-F4F8-2883-206A-D1FCCBF66B3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620" t="23175" r="65300" b="23164"/>
          <a:stretch/>
        </p:blipFill>
        <p:spPr>
          <a:xfrm>
            <a:off x="8412480" y="133502"/>
            <a:ext cx="586099" cy="39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321040" y="137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8229600" cy="685800"/>
          </a:xfrm>
          <a:prstGeom prst="rect">
            <a:avLst/>
          </a:prstGeom>
          <a:solidFill>
            <a:srgbClr val="F0FAF9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57200" y="822960"/>
            <a:ext cx="128016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94944" y="8778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(Browser)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4944" y="11704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(Dark Theme) | Jinja2 Templates | 16 Template Files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1508760"/>
            <a:ext cx="274320" cy="274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57200" y="1627632"/>
            <a:ext cx="8229600" cy="685800"/>
          </a:xfrm>
          <a:prstGeom prst="rect">
            <a:avLst/>
          </a:prstGeom>
          <a:solidFill>
            <a:srgbClr val="F0FAF9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7200" y="1627632"/>
            <a:ext cx="128016" cy="6858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94944" y="16824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Application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4944" y="1975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- Routes &amp; Logic | database.py - SQLite Auth | Session Management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34840" y="2313432"/>
            <a:ext cx="274320" cy="274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57200" y="2432304"/>
            <a:ext cx="8229600" cy="685800"/>
          </a:xfrm>
          <a:prstGeom prst="rect">
            <a:avLst/>
          </a:prstGeom>
          <a:solidFill>
            <a:srgbClr val="F0FAF9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57200" y="2432304"/>
            <a:ext cx="128016" cy="6858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94944" y="24871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 Engine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4944" y="27797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ExtraTreesRegressor | 14 Engineered Features | 85.4% R2 Accuracy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34840" y="3118104"/>
            <a:ext cx="274320" cy="274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57200" y="3236976"/>
            <a:ext cx="8229600" cy="685800"/>
          </a:xfrm>
          <a:prstGeom prst="rect">
            <a:avLst/>
          </a:prstGeom>
          <a:solidFill>
            <a:srgbClr val="F0FAF9"/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57200" y="3236976"/>
            <a:ext cx="128016" cy="6858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94944" y="3291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4944" y="35844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students_data.csv (900 students) | users.db (SQLite) | models/*.pkl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0050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828800" y="3977640"/>
            <a:ext cx="2103120" cy="1005840"/>
          </a:xfrm>
          <a:prstGeom prst="rect">
            <a:avLst/>
          </a:prstGeom>
          <a:solidFill>
            <a:srgbClr val="F0FAF9"/>
          </a:solidFill>
          <a:ln w="19050">
            <a:solidFill>
              <a:srgbClr val="02809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2651760" y="400507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651760" y="4005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828800" y="44805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828800" y="473659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 &amp; data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06240" y="3977640"/>
            <a:ext cx="2103120" cy="1005840"/>
          </a:xfrm>
          <a:prstGeom prst="rect">
            <a:avLst/>
          </a:prstGeom>
          <a:solidFill>
            <a:srgbClr val="F0FAF9"/>
          </a:solidFill>
          <a:ln w="19050">
            <a:solidFill>
              <a:srgbClr val="00A89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5029200" y="4005072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029200" y="4005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TCH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206240" y="44805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206240" y="473659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&amp; bulk upload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583680" y="3977640"/>
            <a:ext cx="2103120" cy="1005840"/>
          </a:xfrm>
          <a:prstGeom prst="rect">
            <a:avLst/>
          </a:prstGeom>
          <a:solidFill>
            <a:srgbClr val="F0FAF9"/>
          </a:solidFill>
          <a:ln w="19050">
            <a:solidFill>
              <a:srgbClr val="F39C12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7406640" y="4005072"/>
            <a:ext cx="457200" cy="4572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406640" y="4005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583680" y="44805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583680" y="473659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score &amp; tips</a:t>
            </a:r>
            <a:endParaRPr lang="en-US" sz="1000" dirty="0"/>
          </a:p>
        </p:txBody>
      </p:sp>
      <p:pic>
        <p:nvPicPr>
          <p:cNvPr id="42" name="Google Shape;124;g3bb61f4e995_0_85">
            <a:extLst>
              <a:ext uri="{FF2B5EF4-FFF2-40B4-BE49-F238E27FC236}">
                <a16:creationId xmlns:a16="http://schemas.microsoft.com/office/drawing/2014/main" id="{E3DF3F27-0832-7E82-A28C-9FA98325F6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620" t="23175" r="65300" b="23164"/>
          <a:stretch/>
        </p:blipFill>
        <p:spPr>
          <a:xfrm>
            <a:off x="8352161" y="112126"/>
            <a:ext cx="586099" cy="39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24;g3bb61f4e995_0_85">
            <a:extLst>
              <a:ext uri="{FF2B5EF4-FFF2-40B4-BE49-F238E27FC236}">
                <a16:creationId xmlns:a16="http://schemas.microsoft.com/office/drawing/2014/main" id="{95B8D25F-CD63-BD0F-A87B-6D9C4388CBF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7620" t="23175" r="65300" b="23164"/>
          <a:stretch/>
        </p:blipFill>
        <p:spPr>
          <a:xfrm>
            <a:off x="8352161" y="112126"/>
            <a:ext cx="586099" cy="39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9823FE-5CF8-158D-0420-12A4FB9AE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9717" y="367525"/>
            <a:ext cx="3442010" cy="4702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064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20D838-FC9E-FBA1-D4BC-9D8F1DA87C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11</a:t>
            </a:fld>
            <a:endParaRPr lang="en-GB"/>
          </a:p>
        </p:txBody>
      </p:sp>
      <p:pic>
        <p:nvPicPr>
          <p:cNvPr id="3" name="Google Shape;124;g3bb61f4e995_0_85">
            <a:extLst>
              <a:ext uri="{FF2B5EF4-FFF2-40B4-BE49-F238E27FC236}">
                <a16:creationId xmlns:a16="http://schemas.microsoft.com/office/drawing/2014/main" id="{F2925488-4769-CACA-0A75-A6444721947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7620" t="23175" r="65300" b="23164"/>
          <a:stretch/>
        </p:blipFill>
        <p:spPr>
          <a:xfrm>
            <a:off x="8352161" y="112126"/>
            <a:ext cx="586099" cy="39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F279BB-6C6F-D8B5-EB31-3B33FE13B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283" y="884662"/>
            <a:ext cx="8028878" cy="42002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7CE0A7-9CD0-F001-A713-1524319015D0}"/>
              </a:ext>
            </a:extLst>
          </p:cNvPr>
          <p:cNvSpPr txBox="1"/>
          <p:nvPr/>
        </p:nvSpPr>
        <p:spPr>
          <a:xfrm>
            <a:off x="505522" y="310551"/>
            <a:ext cx="42225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Screenshot of model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780588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g3bb61f4e995_0_114"/>
          <p:cNvPicPr preferRelativeResize="0"/>
          <p:nvPr/>
        </p:nvPicPr>
        <p:blipFill rotWithShape="1">
          <a:blip r:embed="rId3">
            <a:alphaModFix/>
          </a:blip>
          <a:srcRect l="7620" t="23175" r="65300" b="23164"/>
          <a:stretch/>
        </p:blipFill>
        <p:spPr>
          <a:xfrm>
            <a:off x="8200175" y="497475"/>
            <a:ext cx="586099" cy="3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bb61f4e995_0_114"/>
          <p:cNvSpPr txBox="1"/>
          <p:nvPr/>
        </p:nvSpPr>
        <p:spPr>
          <a:xfrm>
            <a:off x="170264" y="289281"/>
            <a:ext cx="7160400" cy="9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GB" sz="3100" b="1" dirty="0">
                <a:solidFill>
                  <a:srgbClr val="0913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Gantt Chart</a:t>
            </a:r>
            <a:endParaRPr sz="3100" b="1" i="0" u="none" strike="noStrike" cap="none" dirty="0">
              <a:solidFill>
                <a:srgbClr val="09134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" name="Google Shape;141;g3bb61f4e995_0_114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  <p:graphicFrame>
        <p:nvGraphicFramePr>
          <p:cNvPr id="142" name="Google Shape;142;g3bb61f4e995_0_114"/>
          <p:cNvGraphicFramePr/>
          <p:nvPr>
            <p:extLst>
              <p:ext uri="{D42A27DB-BD31-4B8C-83A1-F6EECF244321}">
                <p14:modId xmlns:p14="http://schemas.microsoft.com/office/powerpoint/2010/main" val="1221120424"/>
              </p:ext>
            </p:extLst>
          </p:nvPr>
        </p:nvGraphicFramePr>
        <p:xfrm>
          <a:off x="96644" y="952461"/>
          <a:ext cx="8953420" cy="3688398"/>
        </p:xfrm>
        <a:graphic>
          <a:graphicData uri="http://schemas.openxmlformats.org/drawingml/2006/table">
            <a:tbl>
              <a:tblPr>
                <a:noFill/>
                <a:tableStyleId>{F243F2E9-EE5A-4B70-8657-BDC805B4E44C}</a:tableStyleId>
              </a:tblPr>
              <a:tblGrid>
                <a:gridCol w="93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7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17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17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17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17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17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217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2174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174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2174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2174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7131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3669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Project Details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1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2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3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4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5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6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7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8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9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10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11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12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13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14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15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dirty="0"/>
                        <a:t>Week 16</a:t>
                      </a:r>
                      <a:endParaRPr sz="1000" b="1" dirty="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P</a:t>
                      </a:r>
                      <a:r>
                        <a:rPr lang="en-IN" sz="1000" dirty="0" err="1"/>
                        <a:t>roblem</a:t>
                      </a:r>
                      <a:r>
                        <a:rPr lang="en-IN" sz="1000" dirty="0"/>
                        <a:t> analysis</a:t>
                      </a:r>
                      <a:endParaRPr sz="1000" dirty="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/>
                        <a:t>■</a:t>
                      </a:r>
                      <a:endParaRPr sz="1000" dirty="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A85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/>
                        <a:t>■</a:t>
                      </a:r>
                      <a:endParaRPr sz="1000" dirty="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A85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L</a:t>
                      </a:r>
                      <a:r>
                        <a:rPr lang="en-IN" sz="1000" dirty="0" err="1"/>
                        <a:t>iterature</a:t>
                      </a:r>
                      <a:r>
                        <a:rPr lang="en-IN" sz="1000" dirty="0"/>
                        <a:t> survey</a:t>
                      </a:r>
                      <a:endParaRPr sz="1000" dirty="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R</a:t>
                      </a:r>
                      <a:r>
                        <a:rPr lang="en-IN" sz="1000" dirty="0" err="1"/>
                        <a:t>equirement</a:t>
                      </a:r>
                      <a:r>
                        <a:rPr lang="en-IN" sz="1000" dirty="0"/>
                        <a:t> analysis</a:t>
                      </a:r>
                      <a:endParaRPr sz="1000" dirty="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S</a:t>
                      </a:r>
                      <a:r>
                        <a:rPr lang="en-IN" sz="1000" dirty="0" err="1"/>
                        <a:t>ystem</a:t>
                      </a:r>
                      <a:r>
                        <a:rPr lang="en-IN" sz="1000" dirty="0"/>
                        <a:t> design</a:t>
                      </a:r>
                      <a:endParaRPr sz="1000" dirty="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Data collection &amp; Preparation</a:t>
                      </a:r>
                      <a:endParaRPr sz="1000" dirty="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A85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A85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A85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ML model</a:t>
                      </a:r>
                      <a:endParaRPr sz="1000" dirty="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2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Backend Setup </a:t>
                      </a:r>
                      <a:endParaRPr sz="1000" dirty="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Frontend development</a:t>
                      </a:r>
                      <a:endParaRPr sz="1000" dirty="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2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System integration</a:t>
                      </a:r>
                      <a:endParaRPr sz="1000" dirty="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2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Documentation</a:t>
                      </a:r>
                      <a:endParaRPr sz="1000" dirty="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2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Report</a:t>
                      </a:r>
                      <a:endParaRPr sz="1000" dirty="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/>
                        <a:t>■</a:t>
                      </a:r>
                      <a:endParaRPr sz="1000" dirty="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3bb61f4e995_0_124"/>
          <p:cNvPicPr preferRelativeResize="0"/>
          <p:nvPr/>
        </p:nvPicPr>
        <p:blipFill rotWithShape="1">
          <a:blip r:embed="rId3">
            <a:alphaModFix/>
          </a:blip>
          <a:srcRect l="7620" t="23175" r="65300" b="23164"/>
          <a:stretch/>
        </p:blipFill>
        <p:spPr>
          <a:xfrm>
            <a:off x="8200175" y="497475"/>
            <a:ext cx="586099" cy="3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bb61f4e995_0_124"/>
          <p:cNvSpPr txBox="1"/>
          <p:nvPr/>
        </p:nvSpPr>
        <p:spPr>
          <a:xfrm>
            <a:off x="811975" y="1105525"/>
            <a:ext cx="7160400" cy="9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GB" sz="3100" b="1" dirty="0">
                <a:solidFill>
                  <a:srgbClr val="0913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Expected Outcome:</a:t>
            </a:r>
            <a:endParaRPr sz="3100" b="1" i="0" u="none" strike="noStrike" cap="none" dirty="0">
              <a:solidFill>
                <a:srgbClr val="09134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" name="Google Shape;149;g3bb61f4e995_0_124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AC93A0-6B17-29B2-36A8-C1EA2E19B2B7}"/>
              </a:ext>
            </a:extLst>
          </p:cNvPr>
          <p:cNvSpPr txBox="1"/>
          <p:nvPr/>
        </p:nvSpPr>
        <p:spPr>
          <a:xfrm>
            <a:off x="811975" y="1858537"/>
            <a:ext cx="63693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Predict student performance using key academic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Identify at-risk students early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Reduce manual work through automation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Provide insights using dashboards and alerts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Improve decision-making and student outcomes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Provide personalized guidance using an AI chatbot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910</Words>
  <Application>Microsoft Office PowerPoint</Application>
  <PresentationFormat>On-screen Show (16:9)</PresentationFormat>
  <Paragraphs>213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Helvetica Neue Light</vt:lpstr>
      <vt:lpstr>Helvetica Neue</vt:lpstr>
      <vt:lpstr>Wingdings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Chaithresh Kulal</cp:lastModifiedBy>
  <cp:revision>16</cp:revision>
  <dcterms:modified xsi:type="dcterms:W3CDTF">2026-04-21T04:41:45Z</dcterms:modified>
</cp:coreProperties>
</file>